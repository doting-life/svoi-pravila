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>
        <p:scale>
          <a:sx n="76" d="100"/>
          <a:sy n="76" d="100"/>
        </p:scale>
        <p:origin x="776" y="1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85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Свои Правила — AI-клавиатура для трудных разговоров. Гипотеза Сбера Social &amp; Family.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Боль ежедневная и происходит в переписке — поэтому решение должно жить в клавиатуре, а не в отдельном приложении.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сценария закрывают исходящее, входящее и генерацию с нуля.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Telegram inline снимает три барьера сразу: установка, стор, Full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Свод правил — это proprietary data и источник удержания. Главное отличие от ChatGPT.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Частота — критерий номер один в конкурсе. Объясняем, почему формат его вытягивает.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конкурент закрывает часть, но никто — память о договорённостях.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спринтов, каждый с измеримым результатом.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Дистрибуция — сильная сторона команды, канал уже есть.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человека: продукт и рост, бэкенд и AI, фуллстек.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Закрытие: что просим у программы и зачем.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554480"/>
            <a:ext cx="6035040" cy="6035040"/>
          </a:xfrm>
          <a:prstGeom prst="ellipse">
            <a:avLst/>
          </a:prstGeom>
          <a:solidFill>
            <a:srgbClr val="7B3FE4">
              <a:alpha val="22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9326880" y="3108960"/>
            <a:ext cx="4023360" cy="4023360"/>
          </a:xfrm>
          <a:prstGeom prst="ellipse">
            <a:avLst/>
          </a:prstGeom>
          <a:solidFill>
            <a:srgbClr val="A97BF5">
              <a:alpha val="1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 txBox="1"/>
          <p:nvPr/>
        </p:nvSpPr>
        <p:spPr>
          <a:xfrm>
            <a:off x="73152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 500 × DISRUPT  ·  SOCIAL &amp; FAMILY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8778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Свои Правила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0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Клавиатура, которая помогает сказать трудное — и помнит, о чём вы договорились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2788920" cy="1234440"/>
          </a:xfrm>
          <a:prstGeom prst="roundRect">
            <a:avLst>
              <a:gd name="adj" fmla="val 8889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987552" y="4553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inline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5010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MVP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94760" y="4343400"/>
            <a:ext cx="2788920" cy="1234440"/>
          </a:xfrm>
          <a:prstGeom prst="roundRect">
            <a:avLst>
              <a:gd name="adj" fmla="val 8889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4050792" y="4553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/ DAU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050792" y="5010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частота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4343400"/>
            <a:ext cx="2788920" cy="1234440"/>
          </a:xfrm>
          <a:prstGeom prst="roundRect">
            <a:avLst>
              <a:gd name="adj" fmla="val 8889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7114032" y="4553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окт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14032" y="5010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с пользователями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знает, что чувствует,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не знает, как это сказать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2404872"/>
            <a:ext cx="384048" cy="384048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658368" y="245059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2350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Отправил на эмоциях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770632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Написал то, что думал, в той форме, в какой думал. Получил ссору на два дня и разговор не о проблеме, а о тоне.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3703320"/>
            <a:ext cx="384048" cy="384048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658368" y="37490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36484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отправил ничего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40690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Стёр, промолчал, накопил. Через месяц всё это выходит разом и уже по другому поводу.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5001768"/>
            <a:ext cx="384048" cy="384048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658368" y="504748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49469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понял входящее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536752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«Делай что хочешь», «ну ок», «я не обижаюсь» — читаются неправильно и запускают конфликт на пустом месте.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21040" y="2331720"/>
            <a:ext cx="3200400" cy="3886200"/>
          </a:xfrm>
          <a:prstGeom prst="roundRect">
            <a:avLst>
              <a:gd name="adj" fmla="val 3429"/>
            </a:avLst>
          </a:prstGeom>
          <a:solidFill>
            <a:srgbClr val="1A13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8595360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это происходит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063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раз в месяц</a:t>
            </a:r>
            <a:endParaRPr lang="en-US" sz="19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терапевта.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40233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день,</a:t>
            </a:r>
            <a:endParaRPr lang="en-US" sz="22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моменте,</a:t>
            </a:r>
            <a:endParaRPr lang="en-US" sz="22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 в клавиатуре.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действия прямо в строке ввода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47288" cy="3200400"/>
          </a:xfrm>
          <a:prstGeom prst="roundRect">
            <a:avLst>
              <a:gd name="adj" fmla="val 3429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932688" y="23774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B3FE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932688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Смягчить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54787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Написал на эмоциях — получил тот же смысл и ту же претензию, но без атаки. Не вежливая пустышка: ты по-прежнему говоришь то, что хотел.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1688" y="2057400"/>
            <a:ext cx="3447288" cy="3200400"/>
          </a:xfrm>
          <a:prstGeom prst="roundRect">
            <a:avLst>
              <a:gd name="adj" fmla="val 3429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654296" y="23774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B3FE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4654296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Расшифровать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54787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Переслал входящее — получил разбор подтекста, чего человек на самом деле просит, и три варианта ответа разной жёсткости.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83296" y="2057400"/>
            <a:ext cx="3447288" cy="3200400"/>
          </a:xfrm>
          <a:prstGeom prst="roundRect">
            <a:avLst>
              <a:gd name="adj" fmla="val 3429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8375904" y="23774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B3FE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 txBox="1"/>
          <p:nvPr/>
        </p:nvSpPr>
        <p:spPr>
          <a:xfrm>
            <a:off x="8375904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Помоги сказать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547872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Сгенерировать трудное с нуля: отказать, поставить границу, признать вину, вернуться к разговору после ссоры.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поверх любого чата — пользователь не выходит из диалога, в котором ему трудно.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MVP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inline вместо системной клавиатуры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вызывает сервис через @бота прямо в строке ввода любого чата, получает готовый вариант и отправляет, не покидая диалог. Функционально это клавиатура — без установки, без стора и без разрешения Full Access.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3648456"/>
            <a:ext cx="292608" cy="292608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1115568" y="3611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Ноль трения на входе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39593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установки и модерации стора — путь до первого использования в один тап.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4562856"/>
            <a:ext cx="292608" cy="292608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1115568" y="45262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Обходим барьер Full Access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48737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Системные клавиатуры на iOS требуют доступа ко всему вводу. Это обвал конверсии и красный флаг по приватности.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5477256"/>
            <a:ext cx="292608" cy="292608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1115568" y="54406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до 1000 DAU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57881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Дистрибуция внутри мессенджера, где аудитория уже есть, а не через установки приложения.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52360" y="2011680"/>
            <a:ext cx="4069080" cy="4206240"/>
          </a:xfrm>
          <a:prstGeom prst="roundRect">
            <a:avLst>
              <a:gd name="adj" fmla="val 2697"/>
            </a:avLst>
          </a:prstGeom>
          <a:solidFill>
            <a:srgbClr val="1A13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777240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 поверхностей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2095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inline + mini-app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MVP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2611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Нативная Android-клавиатура (IME)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983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531266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и рабочие мессенджеры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ПРОДУКТА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«Свои Правила» — то, что нельзя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восстановить промптом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важного контакта фиксируется свод договорённостей: какие темы не поднимаем, как принято просить, что считается извинением. Свод подставляется в контекст модели.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6035040" cy="1051560"/>
          </a:xfrm>
          <a:prstGeom prst="roundRect">
            <a:avLst>
              <a:gd name="adj" fmla="val 10435"/>
            </a:avLst>
          </a:prstGeom>
          <a:solidFill>
            <a:srgbClr val="1A13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914400" y="384048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«AI считает, что ты не прав»,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«вы сами договорились так две недели назад».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9377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пополняются автоматически: какие варианты пользователь отправил, а какие отклонил.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86600" y="2057400"/>
            <a:ext cx="4434840" cy="1234440"/>
          </a:xfrm>
          <a:prstGeom prst="roundRect">
            <a:avLst>
              <a:gd name="adj" fmla="val 8889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7360920" y="22037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Данные, которых нет ни у кого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25603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 правил пары нельзя перенести в другое приложение и нельзя воспроизвести запросом к общей модели.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86600" y="3474720"/>
            <a:ext cx="4434840" cy="1234440"/>
          </a:xfrm>
          <a:prstGeom prst="roundRect">
            <a:avLst>
              <a:gd name="adj" fmla="val 8889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7360920" y="36210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Накопительное преимущество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39776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использование делает следующее точнее. Через месяц продукт знает про эти отношения больше любой внешней модели.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86600" y="4892040"/>
            <a:ext cx="4434840" cy="1234440"/>
          </a:xfrm>
          <a:prstGeom prst="roundRect">
            <a:avLst>
              <a:gd name="adj" fmla="val 8889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7360920" y="50383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Двусторонность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53949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формулируют оба, оба видят один свод. Приглашение второго встроено в основной сценарий — вирусный контур без реферальной программы.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КРИТЕРИЯМ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Формат, где частота заложена в продукт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оценивает не установки, а обращения на 1 DAU. Клавиатура — редкий случай, когда ценность и частота совпадают: помощь нужна ровно в тот момент, когда человек печатает.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86868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97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43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4 декабря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310896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365760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97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→ 25+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обращений на DAU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4343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счёт расширения контактов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10896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644652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97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1,5 сек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латентность ответа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343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допечатает сам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06840" y="310896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923544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97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явное действие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4343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обрабатываем только переданный текст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на рабочие и семейные контакты — главный рычаг роста частоты: один пользователь, несколько сводов правил.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Незанятое место: память о договорённостях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52044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1965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не закрывает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340864"/>
            <a:ext cx="10881360" cy="18288"/>
          </a:xfrm>
          <a:prstGeom prst="rect">
            <a:avLst/>
          </a:prstGeom>
          <a:solidFill>
            <a:srgbClr val="2A21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685800" y="25054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505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AI-клавиатура для отношений, США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25054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памяти о договорённостях конкретной пары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182112"/>
            <a:ext cx="10881360" cy="18288"/>
          </a:xfrm>
          <a:prstGeom prst="rect">
            <a:avLst/>
          </a:prstGeom>
          <a:solidFill>
            <a:srgbClr val="2A21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685800" y="33467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Paired, Lasting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3467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 для пар: квизы и упражнения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34670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Требуют зайти отдельно в спокойный момент — D30 ниже 20%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10881360" cy="18288"/>
          </a:xfrm>
          <a:prstGeom prst="rect">
            <a:avLst/>
          </a:prstGeom>
          <a:solidFill>
            <a:srgbClr val="2A21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 txBox="1"/>
          <p:nvPr/>
        </p:nvSpPr>
        <p:spPr>
          <a:xfrm>
            <a:off x="685800" y="4187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Grammarly Keyboard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41879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 дистрибуции формата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41879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 грамматикой, а не со смыслом и эмоцией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64608"/>
            <a:ext cx="10881360" cy="18288"/>
          </a:xfrm>
          <a:prstGeom prst="rect">
            <a:avLst/>
          </a:prstGeom>
          <a:solidFill>
            <a:srgbClr val="2A21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 txBox="1"/>
          <p:nvPr/>
        </p:nvSpPr>
        <p:spPr>
          <a:xfrm>
            <a:off x="685800" y="5029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и ассистенты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5029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Универсальный совет по запросу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5029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«вообще», без контекста этих отношений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806440"/>
            <a:ext cx="10881360" cy="713232"/>
          </a:xfrm>
          <a:prstGeom prst="roundRect">
            <a:avLst>
              <a:gd name="adj" fmla="val 15385"/>
            </a:avLst>
          </a:prstGeom>
          <a:solidFill>
            <a:srgbClr val="1A13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 txBox="1"/>
          <p:nvPr/>
        </p:nvSpPr>
        <p:spPr>
          <a:xfrm>
            <a:off x="960120" y="5989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хранит договорённости между двумя конкретными людьми и не подсказывает внутри них.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ДО MVP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спринтов до первых пользователей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658368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Спринт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2402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Недели 1–2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1488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на FastAPI и webhook, интеграция LLM, сценарий «расшифровать», схема данных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21488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пользователей, замер латентности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2953512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658368" y="30449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Спринт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30449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Недели 3–4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95351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Inline-mode в любом чате, стриминг ответа, все три сценария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9535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механизм работает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758184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658368" y="38496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Спринт 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384962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Недели 5–6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75818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«Свои Правила» v1: mini-app, онбординг, подстановка в контекст, приглашение второго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75818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Вирусный контур запущен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4562856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 txBox="1"/>
          <p:nvPr/>
        </p:nvSpPr>
        <p:spPr>
          <a:xfrm>
            <a:off x="658368" y="465429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Спринт 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240280" y="46542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Недели 7–8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456285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 антифрод, закрытая бета на 100 человек, оптимизация инференса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456285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измерен, ответ &lt; 1,5 сек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" y="5367528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7B3FE4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 txBox="1"/>
          <p:nvPr/>
        </p:nvSpPr>
        <p:spPr>
          <a:xfrm>
            <a:off x="658368" y="54589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Спринт 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240280" y="54589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Недели 9–10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536752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запуск, посев через свою аудиторию, раскачка частоты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53675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300–500 DAU, 10+ на DAU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до 4 декабря: масштабирование до 1000+ DAU, вывод частоты к 25+ обращениям, старт нативной Android-клавиатуры.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ДИСТРИБУЦИЯ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тысяча DAU — без рекламного бюджета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47288" cy="3063240"/>
          </a:xfrm>
          <a:prstGeom prst="roundRect">
            <a:avLst>
              <a:gd name="adj" fmla="val 3582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97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250 000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44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Собственная аудитория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29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доступ к базе с предыдущего проекта. Первые сотни активных пользователей в первые недели, до выделения бюджета программы.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2103120"/>
            <a:ext cx="3447288" cy="3063240"/>
          </a:xfrm>
          <a:prstGeom prst="roundRect">
            <a:avLst>
              <a:gd name="adj" fmla="val 3582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4636008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97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Партнёрства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2944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Авторы в теме коммуникации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429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Психологи и блогеры вместо закупки. На прошлом проекте партнёрский канал дал ~70 000 человек существенно дешевле перформанса.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2103120"/>
            <a:ext cx="3447288" cy="3063240"/>
          </a:xfrm>
          <a:prstGeom prst="roundRect">
            <a:avLst>
              <a:gd name="adj" fmla="val 3582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8357616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97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944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Короткие видео на боли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3429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«Что он на самом деле имел в виду» — формат, который сам по себе демонстрирует продукт.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1A13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960120" y="56235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F2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с прошлого проекта: в чувствительных категориях дешёвый масштаб даёт не закупка, а заимствованное доверие. Перформанс подключаем вторым эшелоном, когда метрики подтверждены.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Продукт, рост и 19 лет продакшн-разработки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47288" cy="3703320"/>
          </a:xfrm>
          <a:prstGeom prst="roundRect">
            <a:avLst>
              <a:gd name="adj" fmla="val 3183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5157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Аркадий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08349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· продукт и рост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39312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Мозгокачка — игровой образовательный B2C вместе с Анатолием Вассерманом. 250 000 аудитории, 15 000 MAU, LTV выше 4 месяцев по ряду когорт. Отвечал за продукт и всё привлечение.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1389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Ежедневная вовлечённость как метрика — уже решал эту задачу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1688" y="1965960"/>
            <a:ext cx="3447288" cy="3703320"/>
          </a:xfrm>
          <a:prstGeom prst="roundRect">
            <a:avLst>
              <a:gd name="adj" fmla="val 3183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636008" y="2240280"/>
            <a:ext cx="457200" cy="45720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4636008" y="301917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Дмитрий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1237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Backend · AI Engineer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3639312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 лет промышленной разработки. Создавал AI-агентные системы на Telegram Bot API: FastAPI, интеграция OpenAI, стриминговая отдача ответа. Ранее R&amp;D в Septier и Retalix — системы реального времени под нагрузкой.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36008" y="51389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тот стек, на котором строится MVP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83296" y="1965960"/>
            <a:ext cx="3447288" cy="3703320"/>
          </a:xfrm>
          <a:prstGeom prst="roundRect">
            <a:avLst>
              <a:gd name="adj" fmla="val 3183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8357616" y="2240280"/>
            <a:ext cx="457200" cy="457200"/>
          </a:xfrm>
          <a:prstGeom prst="ellipse">
            <a:avLst/>
          </a:prstGeom>
          <a:solidFill>
            <a:srgbClr val="7B3FE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8357616" y="3054809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Георгий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3448001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3639312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full-stack инженер: доводит продакшн-системы целиком от схемы данных до интерфейса. Next.js, React, PostgreSQL. Последний проект — открытый протокол с живыми развёртываниями в двух сетях.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57616" y="51389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Mini-app, фронтенд и инфраструктура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Недостающая экспертиза — дизайн и UX. Закрываем через менторов программы и подрядчика к публичному запуску.</a:t>
            </a:r>
            <a:endParaRPr lang="en-US" sz="13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FE8E6F0-F941-33E6-4B58-A963F86A7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04" y="2032032"/>
            <a:ext cx="914400" cy="914400"/>
          </a:xfrm>
          <a:prstGeom prst="ellipse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0EC7BDF-C25F-145A-9F97-28073D84B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136" y="2029694"/>
            <a:ext cx="935638" cy="935638"/>
          </a:xfrm>
          <a:prstGeom prst="ellipse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9304A94-DD09-5590-1B78-CCE397D19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076" y="2029694"/>
            <a:ext cx="1016185" cy="1016185"/>
          </a:xfrm>
          <a:prstGeom prst="ellipse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108960" y="2011680"/>
            <a:ext cx="5669280" cy="5669280"/>
          </a:xfrm>
          <a:prstGeom prst="ellipse">
            <a:avLst/>
          </a:prstGeom>
          <a:solidFill>
            <a:srgbClr val="7B3FE4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УЧАСТИЯ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 DAU за три месяца</a:t>
            </a:r>
            <a:endParaRPr lang="en-US" sz="40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победа в Social &amp; Family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Токены и облако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114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упереться в стоимость инференса на этапе роста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324612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3657600" y="34747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Менторы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4114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Международный опыт запуска — то, чего нет внутри команды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324612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6446520" y="34747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Рекламный бюджет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114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Подключаем, когда продукт уже подтверждён метриками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06840" y="324612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1C1630"/>
          </a:solidFill>
          <a:ln w="12700">
            <a:solidFill>
              <a:srgbClr val="2A214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9235440" y="34747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E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Дедлайн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4114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продукта на старте полезнее любых денег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7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Долгосрочная цель — глобальный рынок, начиная с СНГ как полигона.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Правила  ·  Sber 500 × Disrupt  ·  Social &amp; Family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1348</Words>
  <Application>Microsoft Macintosh PowerPoint</Application>
  <PresentationFormat>Широкоэкранный</PresentationFormat>
  <Paragraphs>187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Свои Правила</dc:title>
  <dc:subject>PptxGenJS Presentation</dc:subject>
  <dc:creator>Svoi Pravila</dc:creator>
  <cp:lastModifiedBy>k19443</cp:lastModifiedBy>
  <cp:revision>2</cp:revision>
  <dcterms:created xsi:type="dcterms:W3CDTF">2026-09-16T11:17:42Z</dcterms:created>
  <dcterms:modified xsi:type="dcterms:W3CDTF">2026-09-16T11:29:52Z</dcterms:modified>
</cp:coreProperties>
</file>